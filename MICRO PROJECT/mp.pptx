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82" r:id="rId1"/>
  </p:sldMasterIdLst>
  <p:sldIdLst>
    <p:sldId id="256" r:id="rId2"/>
    <p:sldId id="257" r:id="rId3"/>
    <p:sldId id="258" r:id="rId4"/>
    <p:sldId id="262" r:id="rId5"/>
    <p:sldId id="260" r:id="rId6"/>
    <p:sldId id="261" r:id="rId7"/>
    <p:sldId id="263" r:id="rId8"/>
    <p:sldId id="264" r:id="rId9"/>
    <p:sldId id="269"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89" d="100"/>
          <a:sy n="89" d="100"/>
        </p:scale>
        <p:origin x="466" y="2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9F2235-1EE1-4E41-89CE-2F170CD2CA76}" type="datetimeFigureOut">
              <a:rPr lang="en-IN" smtClean="0"/>
              <a:t>06-12-2022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B421D6-CED7-4F6E-B492-28F2A828605A}" type="slidenum">
              <a:rPr lang="en-IN" smtClean="0"/>
              <a:t>‹#›</a:t>
            </a:fld>
            <a:endParaRPr lang="en-IN"/>
          </a:p>
        </p:txBody>
      </p:sp>
    </p:spTree>
    <p:extLst>
      <p:ext uri="{BB962C8B-B14F-4D97-AF65-F5344CB8AC3E}">
        <p14:creationId xmlns:p14="http://schemas.microsoft.com/office/powerpoint/2010/main" val="173263830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9F2235-1EE1-4E41-89CE-2F170CD2CA76}" type="datetimeFigureOut">
              <a:rPr lang="en-IN" smtClean="0"/>
              <a:t>06-12-2022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B421D6-CED7-4F6E-B492-28F2A828605A}" type="slidenum">
              <a:rPr lang="en-IN" smtClean="0"/>
              <a:t>‹#›</a:t>
            </a:fld>
            <a:endParaRPr lang="en-IN"/>
          </a:p>
        </p:txBody>
      </p:sp>
    </p:spTree>
    <p:extLst>
      <p:ext uri="{BB962C8B-B14F-4D97-AF65-F5344CB8AC3E}">
        <p14:creationId xmlns:p14="http://schemas.microsoft.com/office/powerpoint/2010/main" val="1663451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9F2235-1EE1-4E41-89CE-2F170CD2CA76}" type="datetimeFigureOut">
              <a:rPr lang="en-IN" smtClean="0"/>
              <a:t>06-12-2022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B421D6-CED7-4F6E-B492-28F2A828605A}" type="slidenum">
              <a:rPr lang="en-IN" smtClean="0"/>
              <a:t>‹#›</a:t>
            </a:fld>
            <a:endParaRPr lang="en-IN"/>
          </a:p>
        </p:txBody>
      </p:sp>
    </p:spTree>
    <p:extLst>
      <p:ext uri="{BB962C8B-B14F-4D97-AF65-F5344CB8AC3E}">
        <p14:creationId xmlns:p14="http://schemas.microsoft.com/office/powerpoint/2010/main" val="3263798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9F2235-1EE1-4E41-89CE-2F170CD2CA76}" type="datetimeFigureOut">
              <a:rPr lang="en-IN" smtClean="0"/>
              <a:t>06-12-2022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7B421D6-CED7-4F6E-B492-28F2A828605A}" type="slidenum">
              <a:rPr lang="en-IN" smtClean="0"/>
              <a:t>‹#›</a:t>
            </a:fld>
            <a:endParaRPr lang="en-IN"/>
          </a:p>
        </p:txBody>
      </p:sp>
    </p:spTree>
    <p:extLst>
      <p:ext uri="{BB962C8B-B14F-4D97-AF65-F5344CB8AC3E}">
        <p14:creationId xmlns:p14="http://schemas.microsoft.com/office/powerpoint/2010/main" val="2322464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9F2235-1EE1-4E41-89CE-2F170CD2CA76}" type="datetimeFigureOut">
              <a:rPr lang="en-IN" smtClean="0"/>
              <a:t>06-12-2022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7B421D6-CED7-4F6E-B492-28F2A828605A}" type="slidenum">
              <a:rPr lang="en-IN" smtClean="0"/>
              <a:t>‹#›</a:t>
            </a:fld>
            <a:endParaRPr lang="en-IN"/>
          </a:p>
        </p:txBody>
      </p:sp>
    </p:spTree>
    <p:extLst>
      <p:ext uri="{BB962C8B-B14F-4D97-AF65-F5344CB8AC3E}">
        <p14:creationId xmlns:p14="http://schemas.microsoft.com/office/powerpoint/2010/main" val="2608793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9F2235-1EE1-4E41-89CE-2F170CD2CA76}" type="datetimeFigureOut">
              <a:rPr lang="en-IN" smtClean="0"/>
              <a:t>06-12-2022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7B421D6-CED7-4F6E-B492-28F2A828605A}" type="slidenum">
              <a:rPr lang="en-IN" smtClean="0"/>
              <a:t>‹#›</a:t>
            </a:fld>
            <a:endParaRPr lang="en-IN"/>
          </a:p>
        </p:txBody>
      </p:sp>
    </p:spTree>
    <p:extLst>
      <p:ext uri="{BB962C8B-B14F-4D97-AF65-F5344CB8AC3E}">
        <p14:creationId xmlns:p14="http://schemas.microsoft.com/office/powerpoint/2010/main" val="1607023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9F2235-1EE1-4E41-89CE-2F170CD2CA76}" type="datetimeFigureOut">
              <a:rPr lang="en-IN" smtClean="0"/>
              <a:t>06-12-2022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7B421D6-CED7-4F6E-B492-28F2A828605A}" type="slidenum">
              <a:rPr lang="en-IN" smtClean="0"/>
              <a:t>‹#›</a:t>
            </a:fld>
            <a:endParaRPr lang="en-IN"/>
          </a:p>
        </p:txBody>
      </p:sp>
    </p:spTree>
    <p:extLst>
      <p:ext uri="{BB962C8B-B14F-4D97-AF65-F5344CB8AC3E}">
        <p14:creationId xmlns:p14="http://schemas.microsoft.com/office/powerpoint/2010/main" val="23736651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9F2235-1EE1-4E41-89CE-2F170CD2CA76}" type="datetimeFigureOut">
              <a:rPr lang="en-IN" smtClean="0"/>
              <a:t>06-12-2022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7B421D6-CED7-4F6E-B492-28F2A828605A}" type="slidenum">
              <a:rPr lang="en-IN" smtClean="0"/>
              <a:t>‹#›</a:t>
            </a:fld>
            <a:endParaRPr lang="en-IN"/>
          </a:p>
        </p:txBody>
      </p:sp>
    </p:spTree>
    <p:extLst>
      <p:ext uri="{BB962C8B-B14F-4D97-AF65-F5344CB8AC3E}">
        <p14:creationId xmlns:p14="http://schemas.microsoft.com/office/powerpoint/2010/main" val="260840456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9F2235-1EE1-4E41-89CE-2F170CD2CA76}" type="datetimeFigureOut">
              <a:rPr lang="en-IN" smtClean="0"/>
              <a:t>06-12-2022</a:t>
            </a:fld>
            <a:endParaRPr lang="en-IN"/>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7B421D6-CED7-4F6E-B492-28F2A828605A}" type="slidenum">
              <a:rPr lang="en-IN" smtClean="0"/>
              <a:t>‹#›</a:t>
            </a:fld>
            <a:endParaRPr lang="en-IN"/>
          </a:p>
        </p:txBody>
      </p:sp>
    </p:spTree>
    <p:extLst>
      <p:ext uri="{BB962C8B-B14F-4D97-AF65-F5344CB8AC3E}">
        <p14:creationId xmlns:p14="http://schemas.microsoft.com/office/powerpoint/2010/main" val="215457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9F2235-1EE1-4E41-89CE-2F170CD2CA76}" type="datetimeFigureOut">
              <a:rPr lang="en-IN" smtClean="0"/>
              <a:t>06-12-2022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B421D6-CED7-4F6E-B492-28F2A828605A}" type="slidenum">
              <a:rPr lang="en-IN" smtClean="0"/>
              <a:t>‹#›</a:t>
            </a:fld>
            <a:endParaRPr lang="en-IN"/>
          </a:p>
        </p:txBody>
      </p:sp>
    </p:spTree>
    <p:extLst>
      <p:ext uri="{BB962C8B-B14F-4D97-AF65-F5344CB8AC3E}">
        <p14:creationId xmlns:p14="http://schemas.microsoft.com/office/powerpoint/2010/main" val="2379213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9F2235-1EE1-4E41-89CE-2F170CD2CA76}" type="datetimeFigureOut">
              <a:rPr lang="en-IN" smtClean="0"/>
              <a:t>06-12-2022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B421D6-CED7-4F6E-B492-28F2A828605A}"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886824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9F2235-1EE1-4E41-89CE-2F170CD2CA76}" type="datetimeFigureOut">
              <a:rPr lang="en-IN" smtClean="0"/>
              <a:t>06-12-2022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B421D6-CED7-4F6E-B492-28F2A828605A}" type="slidenum">
              <a:rPr lang="en-IN" smtClean="0"/>
              <a:t>‹#›</a:t>
            </a:fld>
            <a:endParaRPr lang="en-IN"/>
          </a:p>
        </p:txBody>
      </p:sp>
    </p:spTree>
    <p:extLst>
      <p:ext uri="{BB962C8B-B14F-4D97-AF65-F5344CB8AC3E}">
        <p14:creationId xmlns:p14="http://schemas.microsoft.com/office/powerpoint/2010/main" val="21027237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9F2235-1EE1-4E41-89CE-2F170CD2CA76}" type="datetimeFigureOut">
              <a:rPr lang="en-IN" smtClean="0"/>
              <a:t>06-12-2022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B421D6-CED7-4F6E-B492-28F2A828605A}"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279222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9F2235-1EE1-4E41-89CE-2F170CD2CA76}" type="datetimeFigureOut">
              <a:rPr lang="en-IN" smtClean="0"/>
              <a:t>06-12-2022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B421D6-CED7-4F6E-B492-28F2A828605A}" type="slidenum">
              <a:rPr lang="en-IN" smtClean="0"/>
              <a:t>‹#›</a:t>
            </a:fld>
            <a:endParaRPr lang="en-IN"/>
          </a:p>
        </p:txBody>
      </p:sp>
    </p:spTree>
    <p:extLst>
      <p:ext uri="{BB962C8B-B14F-4D97-AF65-F5344CB8AC3E}">
        <p14:creationId xmlns:p14="http://schemas.microsoft.com/office/powerpoint/2010/main" val="17837169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9F2235-1EE1-4E41-89CE-2F170CD2CA76}" type="datetimeFigureOut">
              <a:rPr lang="en-IN" smtClean="0"/>
              <a:t>06-12-2022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B421D6-CED7-4F6E-B492-28F2A828605A}" type="slidenum">
              <a:rPr lang="en-IN" smtClean="0"/>
              <a:t>‹#›</a:t>
            </a:fld>
            <a:endParaRPr lang="en-IN"/>
          </a:p>
        </p:txBody>
      </p:sp>
    </p:spTree>
    <p:extLst>
      <p:ext uri="{BB962C8B-B14F-4D97-AF65-F5344CB8AC3E}">
        <p14:creationId xmlns:p14="http://schemas.microsoft.com/office/powerpoint/2010/main" val="15406277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9F2235-1EE1-4E41-89CE-2F170CD2CA76}" type="datetimeFigureOut">
              <a:rPr lang="en-IN" smtClean="0"/>
              <a:t>06-12-2022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7B421D6-CED7-4F6E-B492-28F2A828605A}" type="slidenum">
              <a:rPr lang="en-IN" smtClean="0"/>
              <a:t>‹#›</a:t>
            </a:fld>
            <a:endParaRPr lang="en-IN"/>
          </a:p>
        </p:txBody>
      </p:sp>
    </p:spTree>
    <p:extLst>
      <p:ext uri="{BB962C8B-B14F-4D97-AF65-F5344CB8AC3E}">
        <p14:creationId xmlns:p14="http://schemas.microsoft.com/office/powerpoint/2010/main" val="3422053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C9F2235-1EE1-4E41-89CE-2F170CD2CA76}" type="datetimeFigureOut">
              <a:rPr lang="en-IN" smtClean="0"/>
              <a:t>06-12-2022</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7B421D6-CED7-4F6E-B492-28F2A828605A}" type="slidenum">
              <a:rPr lang="en-IN" smtClean="0"/>
              <a:t>‹#›</a:t>
            </a:fld>
            <a:endParaRPr lang="en-IN"/>
          </a:p>
        </p:txBody>
      </p:sp>
    </p:spTree>
    <p:extLst>
      <p:ext uri="{BB962C8B-B14F-4D97-AF65-F5344CB8AC3E}">
        <p14:creationId xmlns:p14="http://schemas.microsoft.com/office/powerpoint/2010/main" val="1177067159"/>
      </p:ext>
    </p:extLst>
  </p:cSld>
  <p:clrMap bg1="lt1" tx1="dk1" bg2="lt2" tx2="dk2" accent1="accent1" accent2="accent2" accent3="accent3" accent4="accent4" accent5="accent5" accent6="accent6" hlink="hlink" folHlink="folHlink"/>
  <p:sldLayoutIdLst>
    <p:sldLayoutId id="2147483983" r:id="rId1"/>
    <p:sldLayoutId id="2147483984" r:id="rId2"/>
    <p:sldLayoutId id="2147483985" r:id="rId3"/>
    <p:sldLayoutId id="2147483986" r:id="rId4"/>
    <p:sldLayoutId id="2147483987" r:id="rId5"/>
    <p:sldLayoutId id="2147483988" r:id="rId6"/>
    <p:sldLayoutId id="2147483989" r:id="rId7"/>
    <p:sldLayoutId id="2147483990" r:id="rId8"/>
    <p:sldLayoutId id="2147483991" r:id="rId9"/>
    <p:sldLayoutId id="2147483992" r:id="rId10"/>
    <p:sldLayoutId id="2147483993" r:id="rId11"/>
    <p:sldLayoutId id="2147483994" r:id="rId12"/>
    <p:sldLayoutId id="2147483995" r:id="rId13"/>
    <p:sldLayoutId id="2147483996" r:id="rId14"/>
    <p:sldLayoutId id="2147483997" r:id="rId15"/>
    <p:sldLayoutId id="214748399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techtarget.com/searchcio/definition/B2B" TargetMode="External"/><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hyperlink" Target="https://www.techtarget.com/searchcustomerexperience/definition/B2C"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ED3F9-CFEE-9AA2-049E-9F0E3282E00B}"/>
              </a:ext>
            </a:extLst>
          </p:cNvPr>
          <p:cNvSpPr>
            <a:spLocks noGrp="1"/>
          </p:cNvSpPr>
          <p:nvPr>
            <p:ph type="ctrTitle"/>
          </p:nvPr>
        </p:nvSpPr>
        <p:spPr>
          <a:xfrm>
            <a:off x="1121435" y="1478583"/>
            <a:ext cx="9933418" cy="2541431"/>
          </a:xfrm>
        </p:spPr>
        <p:txBody>
          <a:bodyPr/>
          <a:lstStyle/>
          <a:p>
            <a:pPr algn="l"/>
            <a:r>
              <a:rPr lang="en-IN" sz="8000" dirty="0">
                <a:solidFill>
                  <a:schemeClr val="accent6">
                    <a:lumMod val="75000"/>
                  </a:schemeClr>
                </a:solidFill>
                <a:latin typeface="Arial Black" panose="020B0A04020102020204" pitchFamily="34" charset="0"/>
              </a:rPr>
              <a:t>E-COMMERCE WEBSITE</a:t>
            </a:r>
          </a:p>
        </p:txBody>
      </p:sp>
      <p:pic>
        <p:nvPicPr>
          <p:cNvPr id="5" name="Picture 4">
            <a:extLst>
              <a:ext uri="{FF2B5EF4-FFF2-40B4-BE49-F238E27FC236}">
                <a16:creationId xmlns:a16="http://schemas.microsoft.com/office/drawing/2014/main" id="{62C25832-83B1-29E7-2CEA-C09EDF6C66D8}"/>
              </a:ext>
            </a:extLst>
          </p:cNvPr>
          <p:cNvPicPr>
            <a:picLocks noChangeAspect="1"/>
          </p:cNvPicPr>
          <p:nvPr/>
        </p:nvPicPr>
        <p:blipFill>
          <a:blip r:embed="rId2"/>
          <a:stretch>
            <a:fillRect/>
          </a:stretch>
        </p:blipFill>
        <p:spPr>
          <a:xfrm>
            <a:off x="3302838" y="4020014"/>
            <a:ext cx="4365101" cy="2446487"/>
          </a:xfrm>
          <a:prstGeom prst="rect">
            <a:avLst/>
          </a:prstGeom>
        </p:spPr>
      </p:pic>
    </p:spTree>
    <p:extLst>
      <p:ext uri="{BB962C8B-B14F-4D97-AF65-F5344CB8AC3E}">
        <p14:creationId xmlns:p14="http://schemas.microsoft.com/office/powerpoint/2010/main" val="4202180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earn the Basics About E-Commerce">
            <a:extLst>
              <a:ext uri="{FF2B5EF4-FFF2-40B4-BE49-F238E27FC236}">
                <a16:creationId xmlns:a16="http://schemas.microsoft.com/office/drawing/2014/main" id="{D3A91C74-2521-F77A-9823-6BDECE4625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4062" y="4681414"/>
            <a:ext cx="3657600" cy="215247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300B846-A593-2B03-4CF6-B41A8CA916DD}"/>
              </a:ext>
            </a:extLst>
          </p:cNvPr>
          <p:cNvSpPr>
            <a:spLocks noGrp="1"/>
          </p:cNvSpPr>
          <p:nvPr>
            <p:ph type="title"/>
          </p:nvPr>
        </p:nvSpPr>
        <p:spPr/>
        <p:txBody>
          <a:bodyPr>
            <a:normAutofit/>
          </a:bodyPr>
          <a:lstStyle/>
          <a:p>
            <a:r>
              <a:rPr lang="en-IN" sz="5400" dirty="0">
                <a:solidFill>
                  <a:schemeClr val="accent2">
                    <a:lumMod val="75000"/>
                  </a:schemeClr>
                </a:solidFill>
                <a:latin typeface="Franklin Gothic Demi Cond" panose="020B0706030402020204" pitchFamily="34" charset="0"/>
              </a:rPr>
              <a:t>WHAT IS E-COMMERCE ?</a:t>
            </a:r>
          </a:p>
        </p:txBody>
      </p:sp>
      <p:sp>
        <p:nvSpPr>
          <p:cNvPr id="3" name="Content Placeholder 2">
            <a:extLst>
              <a:ext uri="{FF2B5EF4-FFF2-40B4-BE49-F238E27FC236}">
                <a16:creationId xmlns:a16="http://schemas.microsoft.com/office/drawing/2014/main" id="{5AFE3756-194B-7B93-BA09-D57AE748F792}"/>
              </a:ext>
            </a:extLst>
          </p:cNvPr>
          <p:cNvSpPr>
            <a:spLocks noGrp="1"/>
          </p:cNvSpPr>
          <p:nvPr>
            <p:ph idx="1"/>
          </p:nvPr>
        </p:nvSpPr>
        <p:spPr/>
        <p:txBody>
          <a:bodyPr/>
          <a:lstStyle/>
          <a:p>
            <a:r>
              <a:rPr lang="en-IN" b="1" dirty="0">
                <a:solidFill>
                  <a:schemeClr val="tx1">
                    <a:lumMod val="95000"/>
                    <a:lumOff val="5000"/>
                  </a:schemeClr>
                </a:solidFill>
                <a:latin typeface="Constantia" panose="02030602050306030303" pitchFamily="18" charset="0"/>
              </a:rPr>
              <a:t>E-</a:t>
            </a:r>
            <a:r>
              <a:rPr lang="en-IN" b="1" dirty="0" err="1">
                <a:solidFill>
                  <a:schemeClr val="tx1">
                    <a:lumMod val="95000"/>
                    <a:lumOff val="5000"/>
                  </a:schemeClr>
                </a:solidFill>
                <a:latin typeface="Constantia" panose="02030602050306030303" pitchFamily="18" charset="0"/>
              </a:rPr>
              <a:t>commerce,also</a:t>
            </a:r>
            <a:r>
              <a:rPr lang="en-IN" b="1" dirty="0">
                <a:solidFill>
                  <a:schemeClr val="tx1">
                    <a:lumMod val="95000"/>
                    <a:lumOff val="5000"/>
                  </a:schemeClr>
                </a:solidFill>
                <a:latin typeface="Constantia" panose="02030602050306030303" pitchFamily="18" charset="0"/>
              </a:rPr>
              <a:t> known as electronic commerce or internet </a:t>
            </a:r>
            <a:r>
              <a:rPr lang="en-IN" b="1" dirty="0" err="1">
                <a:solidFill>
                  <a:schemeClr val="tx1">
                    <a:lumMod val="95000"/>
                    <a:lumOff val="5000"/>
                  </a:schemeClr>
                </a:solidFill>
                <a:latin typeface="Constantia" panose="02030602050306030303" pitchFamily="18" charset="0"/>
              </a:rPr>
              <a:t>commerce,refers</a:t>
            </a:r>
            <a:r>
              <a:rPr lang="en-IN" b="1" dirty="0">
                <a:solidFill>
                  <a:schemeClr val="tx1">
                    <a:lumMod val="95000"/>
                    <a:lumOff val="5000"/>
                  </a:schemeClr>
                </a:solidFill>
                <a:latin typeface="Constantia" panose="02030602050306030303" pitchFamily="18" charset="0"/>
              </a:rPr>
              <a:t> to the buying and selling of goods or services using the </a:t>
            </a:r>
            <a:r>
              <a:rPr lang="en-IN" b="1" dirty="0" err="1">
                <a:solidFill>
                  <a:schemeClr val="tx1">
                    <a:lumMod val="95000"/>
                    <a:lumOff val="5000"/>
                  </a:schemeClr>
                </a:solidFill>
                <a:latin typeface="Constantia" panose="02030602050306030303" pitchFamily="18" charset="0"/>
              </a:rPr>
              <a:t>internet,and</a:t>
            </a:r>
            <a:r>
              <a:rPr lang="en-IN" b="1" dirty="0">
                <a:solidFill>
                  <a:schemeClr val="tx1">
                    <a:lumMod val="95000"/>
                    <a:lumOff val="5000"/>
                  </a:schemeClr>
                </a:solidFill>
                <a:latin typeface="Constantia" panose="02030602050306030303" pitchFamily="18" charset="0"/>
              </a:rPr>
              <a:t> the transfer of money and data to execute these </a:t>
            </a:r>
            <a:r>
              <a:rPr lang="en-IN" b="1" dirty="0" err="1">
                <a:solidFill>
                  <a:schemeClr val="tx1">
                    <a:lumMod val="95000"/>
                    <a:lumOff val="5000"/>
                  </a:schemeClr>
                </a:solidFill>
                <a:latin typeface="Constantia" panose="02030602050306030303" pitchFamily="18" charset="0"/>
              </a:rPr>
              <a:t>transactions.E</a:t>
            </a:r>
            <a:r>
              <a:rPr lang="en-IN" b="1" dirty="0">
                <a:solidFill>
                  <a:schemeClr val="tx1">
                    <a:lumMod val="95000"/>
                    <a:lumOff val="5000"/>
                  </a:schemeClr>
                </a:solidFill>
                <a:latin typeface="Constantia" panose="02030602050306030303" pitchFamily="18" charset="0"/>
              </a:rPr>
              <a:t>-commerce is often used to refer to the sale of physical products </a:t>
            </a:r>
            <a:r>
              <a:rPr lang="en-IN" b="1" dirty="0" err="1">
                <a:solidFill>
                  <a:schemeClr val="tx1">
                    <a:lumMod val="95000"/>
                    <a:lumOff val="5000"/>
                  </a:schemeClr>
                </a:solidFill>
                <a:latin typeface="Constantia" panose="02030602050306030303" pitchFamily="18" charset="0"/>
              </a:rPr>
              <a:t>online,but</a:t>
            </a:r>
            <a:r>
              <a:rPr lang="en-IN" b="1" dirty="0">
                <a:solidFill>
                  <a:schemeClr val="tx1">
                    <a:lumMod val="95000"/>
                    <a:lumOff val="5000"/>
                  </a:schemeClr>
                </a:solidFill>
                <a:latin typeface="Constantia" panose="02030602050306030303" pitchFamily="18" charset="0"/>
              </a:rPr>
              <a:t> it can also describe any kind of commercial transaction that is facilitated through the internet.</a:t>
            </a:r>
          </a:p>
          <a:p>
            <a:r>
              <a:rPr lang="en-US" b="1" i="0" dirty="0">
                <a:solidFill>
                  <a:schemeClr val="tx1"/>
                </a:solidFill>
                <a:effectLst/>
                <a:latin typeface="Constantia" panose="02030602050306030303" pitchFamily="18" charset="0"/>
              </a:rPr>
              <a:t>These business transactions occur either as business-to-business (</a:t>
            </a:r>
            <a:r>
              <a:rPr lang="en-US" b="1" i="0" u="sng" dirty="0">
                <a:solidFill>
                  <a:schemeClr val="tx1"/>
                </a:solidFill>
                <a:effectLst/>
                <a:latin typeface="Constantia" panose="02030602050306030303" pitchFamily="18" charset="0"/>
                <a:hlinkClick r:id="rId3">
                  <a:extLst>
                    <a:ext uri="{A12FA001-AC4F-418D-AE19-62706E023703}">
                      <ahyp:hlinkClr xmlns:ahyp="http://schemas.microsoft.com/office/drawing/2018/hyperlinkcolor" val="tx"/>
                    </a:ext>
                  </a:extLst>
                </a:hlinkClick>
              </a:rPr>
              <a:t>B2B</a:t>
            </a:r>
            <a:r>
              <a:rPr lang="en-US" b="1" i="0" dirty="0">
                <a:solidFill>
                  <a:schemeClr val="tx1"/>
                </a:solidFill>
                <a:effectLst/>
                <a:latin typeface="Constantia" panose="02030602050306030303" pitchFamily="18" charset="0"/>
              </a:rPr>
              <a:t>), business-to-consumer (</a:t>
            </a:r>
            <a:r>
              <a:rPr lang="en-US" b="1" i="0" u="sng" dirty="0">
                <a:solidFill>
                  <a:schemeClr val="tx1"/>
                </a:solidFill>
                <a:effectLst/>
                <a:latin typeface="Constantia" panose="02030602050306030303" pitchFamily="18" charset="0"/>
                <a:hlinkClick r:id="rId4">
                  <a:extLst>
                    <a:ext uri="{A12FA001-AC4F-418D-AE19-62706E023703}">
                      <ahyp:hlinkClr xmlns:ahyp="http://schemas.microsoft.com/office/drawing/2018/hyperlinkcolor" val="tx"/>
                    </a:ext>
                  </a:extLst>
                </a:hlinkClick>
              </a:rPr>
              <a:t>B2C</a:t>
            </a:r>
            <a:r>
              <a:rPr lang="en-US" b="1" i="0" dirty="0">
                <a:solidFill>
                  <a:schemeClr val="tx1"/>
                </a:solidFill>
                <a:effectLst/>
                <a:latin typeface="Constantia" panose="02030602050306030303" pitchFamily="18" charset="0"/>
              </a:rPr>
              <a:t>), consumer-to-consumer or consumer-to-business</a:t>
            </a:r>
            <a:r>
              <a:rPr lang="en-US" b="1" i="0" dirty="0">
                <a:solidFill>
                  <a:srgbClr val="666666"/>
                </a:solidFill>
                <a:effectLst/>
                <a:latin typeface="Constantia" panose="02030602050306030303" pitchFamily="18" charset="0"/>
              </a:rPr>
              <a:t>.</a:t>
            </a:r>
            <a:endParaRPr lang="en-IN" b="1" dirty="0">
              <a:latin typeface="Constantia" panose="02030602050306030303" pitchFamily="18" charset="0"/>
            </a:endParaRPr>
          </a:p>
        </p:txBody>
      </p:sp>
    </p:spTree>
    <p:extLst>
      <p:ext uri="{BB962C8B-B14F-4D97-AF65-F5344CB8AC3E}">
        <p14:creationId xmlns:p14="http://schemas.microsoft.com/office/powerpoint/2010/main" val="1170094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29B6C-32AB-3809-3F99-7CD6CA763F8E}"/>
              </a:ext>
            </a:extLst>
          </p:cNvPr>
          <p:cNvSpPr>
            <a:spLocks noGrp="1"/>
          </p:cNvSpPr>
          <p:nvPr>
            <p:ph type="title"/>
          </p:nvPr>
        </p:nvSpPr>
        <p:spPr/>
        <p:txBody>
          <a:bodyPr/>
          <a:lstStyle/>
          <a:p>
            <a:r>
              <a:rPr lang="en-IN" dirty="0">
                <a:solidFill>
                  <a:schemeClr val="accent2">
                    <a:lumMod val="75000"/>
                  </a:schemeClr>
                </a:solidFill>
                <a:latin typeface="Franklin Gothic Demi Cond" panose="020B0706030402020204" pitchFamily="34" charset="0"/>
              </a:rPr>
              <a:t>WHY USE E-COMMERCE ?</a:t>
            </a:r>
          </a:p>
        </p:txBody>
      </p:sp>
      <p:sp>
        <p:nvSpPr>
          <p:cNvPr id="3" name="Content Placeholder 2">
            <a:extLst>
              <a:ext uri="{FF2B5EF4-FFF2-40B4-BE49-F238E27FC236}">
                <a16:creationId xmlns:a16="http://schemas.microsoft.com/office/drawing/2014/main" id="{5588BD1E-E8CD-5CF4-B6C6-0DA7E02CE392}"/>
              </a:ext>
            </a:extLst>
          </p:cNvPr>
          <p:cNvSpPr>
            <a:spLocks noGrp="1"/>
          </p:cNvSpPr>
          <p:nvPr>
            <p:ph idx="1"/>
          </p:nvPr>
        </p:nvSpPr>
        <p:spPr/>
        <p:txBody>
          <a:bodyPr/>
          <a:lstStyle/>
          <a:p>
            <a:r>
              <a:rPr lang="en-US" dirty="0">
                <a:solidFill>
                  <a:schemeClr val="tx1">
                    <a:lumMod val="95000"/>
                    <a:lumOff val="5000"/>
                  </a:schemeClr>
                </a:solidFill>
                <a:latin typeface="Constantia" panose="02030602050306030303" pitchFamily="18" charset="0"/>
              </a:rPr>
              <a:t>With the ever increasing use of the internet and its popularity among all demographic segments, electronic commerce is by all means the way to go for virtually all businesses.</a:t>
            </a:r>
          </a:p>
          <a:p>
            <a:r>
              <a:rPr lang="en-US" dirty="0">
                <a:solidFill>
                  <a:schemeClr val="tx1">
                    <a:lumMod val="95000"/>
                    <a:lumOff val="5000"/>
                  </a:schemeClr>
                </a:solidFill>
                <a:latin typeface="Constantia" panose="02030602050306030303" pitchFamily="18" charset="0"/>
              </a:rPr>
              <a:t>Ecommerce has helped businesses improve their efficiency through streamlining the production and service delivery processes.</a:t>
            </a:r>
          </a:p>
          <a:p>
            <a:r>
              <a:rPr lang="en-US" dirty="0">
                <a:solidFill>
                  <a:schemeClr val="tx1">
                    <a:lumMod val="95000"/>
                    <a:lumOff val="5000"/>
                  </a:schemeClr>
                </a:solidFill>
                <a:latin typeface="Constantia" panose="02030602050306030303" pitchFamily="18" charset="0"/>
              </a:rPr>
              <a:t>Through their websites and online advertisements, businesses can communicate with their clients, provide information on new products which enables the customer to choose among a wide range of products and services.</a:t>
            </a:r>
            <a:endParaRPr lang="en-IN" dirty="0">
              <a:solidFill>
                <a:schemeClr val="tx1">
                  <a:lumMod val="95000"/>
                  <a:lumOff val="5000"/>
                </a:schemeClr>
              </a:solidFill>
              <a:latin typeface="Constantia" panose="02030602050306030303" pitchFamily="18" charset="0"/>
            </a:endParaRPr>
          </a:p>
        </p:txBody>
      </p:sp>
    </p:spTree>
    <p:extLst>
      <p:ext uri="{BB962C8B-B14F-4D97-AF65-F5344CB8AC3E}">
        <p14:creationId xmlns:p14="http://schemas.microsoft.com/office/powerpoint/2010/main" val="2394441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761C5-6EFA-13B3-BE0A-8B3A2D107E8A}"/>
              </a:ext>
            </a:extLst>
          </p:cNvPr>
          <p:cNvSpPr>
            <a:spLocks noGrp="1"/>
          </p:cNvSpPr>
          <p:nvPr>
            <p:ph type="title"/>
          </p:nvPr>
        </p:nvSpPr>
        <p:spPr/>
        <p:txBody>
          <a:bodyPr>
            <a:normAutofit fontScale="90000"/>
          </a:bodyPr>
          <a:lstStyle/>
          <a:p>
            <a:r>
              <a:rPr lang="en-IN" sz="4800" b="1" dirty="0">
                <a:solidFill>
                  <a:schemeClr val="accent2">
                    <a:lumMod val="75000"/>
                  </a:schemeClr>
                </a:solidFill>
                <a:latin typeface="Constantia" panose="02030602050306030303" pitchFamily="18" charset="0"/>
              </a:rPr>
              <a:t>PROBLEM STATEMENT</a:t>
            </a:r>
            <a:br>
              <a:rPr lang="en-IN" sz="4800" b="1" dirty="0">
                <a:solidFill>
                  <a:schemeClr val="accent2">
                    <a:lumMod val="75000"/>
                  </a:schemeClr>
                </a:solidFill>
                <a:latin typeface="Constantia" panose="02030602050306030303" pitchFamily="18" charset="0"/>
              </a:rPr>
            </a:br>
            <a:br>
              <a:rPr lang="en-IN" sz="4800" b="1" dirty="0">
                <a:solidFill>
                  <a:schemeClr val="accent2">
                    <a:lumMod val="75000"/>
                  </a:schemeClr>
                </a:solidFill>
                <a:latin typeface="Constantia" panose="02030602050306030303" pitchFamily="18" charset="0"/>
              </a:rPr>
            </a:br>
            <a:endParaRPr lang="en-IN" sz="4800" b="1" dirty="0">
              <a:solidFill>
                <a:schemeClr val="accent2">
                  <a:lumMod val="75000"/>
                </a:schemeClr>
              </a:solidFill>
              <a:latin typeface="Constantia" panose="02030602050306030303" pitchFamily="18" charset="0"/>
            </a:endParaRPr>
          </a:p>
        </p:txBody>
      </p:sp>
      <p:sp>
        <p:nvSpPr>
          <p:cNvPr id="3" name="Content Placeholder 2">
            <a:extLst>
              <a:ext uri="{FF2B5EF4-FFF2-40B4-BE49-F238E27FC236}">
                <a16:creationId xmlns:a16="http://schemas.microsoft.com/office/drawing/2014/main" id="{144862E2-A8CC-29FE-0182-B40F554C3020}"/>
              </a:ext>
            </a:extLst>
          </p:cNvPr>
          <p:cNvSpPr>
            <a:spLocks noGrp="1"/>
          </p:cNvSpPr>
          <p:nvPr>
            <p:ph idx="1"/>
          </p:nvPr>
        </p:nvSpPr>
        <p:spPr/>
        <p:txBody>
          <a:bodyPr>
            <a:normAutofit/>
          </a:bodyPr>
          <a:lstStyle/>
          <a:p>
            <a:pPr>
              <a:buFont typeface="Wingdings" panose="05000000000000000000" pitchFamily="2" charset="2"/>
              <a:buChar char="Ø"/>
            </a:pPr>
            <a:r>
              <a:rPr lang="en-US" sz="3200" dirty="0">
                <a:solidFill>
                  <a:schemeClr val="tx1"/>
                </a:solidFill>
                <a:latin typeface="Franklin Gothic Demi Cond" panose="020B0706030402020204" pitchFamily="34" charset="0"/>
              </a:rPr>
              <a:t>Nowadays people are mostly busy with their hectic schedule, so it gets tough to keep track of their </a:t>
            </a:r>
            <a:r>
              <a:rPr lang="en-US" sz="3200" dirty="0" err="1">
                <a:solidFill>
                  <a:schemeClr val="tx1"/>
                </a:solidFill>
                <a:latin typeface="Franklin Gothic Demi Cond" panose="020B0706030402020204" pitchFamily="34" charset="0"/>
              </a:rPr>
              <a:t>appointmens</a:t>
            </a:r>
            <a:r>
              <a:rPr lang="en-US" sz="3200" dirty="0">
                <a:solidFill>
                  <a:schemeClr val="tx1"/>
                </a:solidFill>
                <a:latin typeface="Franklin Gothic Demi Cond" panose="020B0706030402020204" pitchFamily="34" charset="0"/>
              </a:rPr>
              <a:t>, deadlines or remembering their known one's birthdays, projects and more!</a:t>
            </a:r>
          </a:p>
          <a:p>
            <a:pPr>
              <a:buFont typeface="Wingdings" panose="05000000000000000000" pitchFamily="2" charset="2"/>
              <a:buChar char="Ø"/>
            </a:pPr>
            <a:r>
              <a:rPr lang="en-US" sz="3200" dirty="0">
                <a:solidFill>
                  <a:schemeClr val="tx1"/>
                </a:solidFill>
                <a:latin typeface="Franklin Gothic Demi Cond" panose="020B0706030402020204" pitchFamily="34" charset="0"/>
              </a:rPr>
              <a:t>So our printable calendar templates are here to help them keep track without missing out on major events.</a:t>
            </a:r>
          </a:p>
          <a:p>
            <a:endParaRPr lang="en-US" sz="2800" dirty="0">
              <a:solidFill>
                <a:schemeClr val="tx1"/>
              </a:solidFill>
            </a:endParaRPr>
          </a:p>
        </p:txBody>
      </p:sp>
    </p:spTree>
    <p:extLst>
      <p:ext uri="{BB962C8B-B14F-4D97-AF65-F5344CB8AC3E}">
        <p14:creationId xmlns:p14="http://schemas.microsoft.com/office/powerpoint/2010/main" val="41580313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A6360-3D32-30F0-FB65-C614702DF4E7}"/>
              </a:ext>
            </a:extLst>
          </p:cNvPr>
          <p:cNvSpPr>
            <a:spLocks noGrp="1"/>
          </p:cNvSpPr>
          <p:nvPr>
            <p:ph type="title"/>
          </p:nvPr>
        </p:nvSpPr>
        <p:spPr/>
        <p:txBody>
          <a:bodyPr>
            <a:normAutofit/>
          </a:bodyPr>
          <a:lstStyle/>
          <a:p>
            <a:r>
              <a:rPr lang="en-IN" sz="4800" b="1" dirty="0">
                <a:solidFill>
                  <a:schemeClr val="accent2">
                    <a:lumMod val="75000"/>
                  </a:schemeClr>
                </a:solidFill>
                <a:latin typeface="Constantia" panose="02030602050306030303" pitchFamily="18" charset="0"/>
              </a:rPr>
              <a:t>EXISTING SOLUTIONS</a:t>
            </a:r>
          </a:p>
        </p:txBody>
      </p:sp>
      <p:sp>
        <p:nvSpPr>
          <p:cNvPr id="3" name="Content Placeholder 2">
            <a:extLst>
              <a:ext uri="{FF2B5EF4-FFF2-40B4-BE49-F238E27FC236}">
                <a16:creationId xmlns:a16="http://schemas.microsoft.com/office/drawing/2014/main" id="{1AF97C96-D99C-558F-AFE6-5B69D13F598C}"/>
              </a:ext>
            </a:extLst>
          </p:cNvPr>
          <p:cNvSpPr>
            <a:spLocks noGrp="1"/>
          </p:cNvSpPr>
          <p:nvPr>
            <p:ph idx="1"/>
          </p:nvPr>
        </p:nvSpPr>
        <p:spPr/>
        <p:txBody>
          <a:bodyPr/>
          <a:lstStyle/>
          <a:p>
            <a:r>
              <a:rPr lang="en-IN" dirty="0"/>
              <a:t>ETSY</a:t>
            </a:r>
          </a:p>
          <a:p>
            <a:pPr>
              <a:buFont typeface="Arial" panose="020B0604020202020204" pitchFamily="34" charset="0"/>
              <a:buChar char="•"/>
            </a:pPr>
            <a:r>
              <a:rPr lang="en-US" sz="2400" dirty="0">
                <a:solidFill>
                  <a:srgbClr val="202124"/>
                </a:solidFill>
                <a:effectLst/>
                <a:latin typeface="Franklin Gothic Demi Cond" panose="020B0706030402020204" pitchFamily="34" charset="0"/>
              </a:rPr>
              <a:t>Etsy is an online marketplace that connects sellers with buyers. It is primarily used for selling vintage items, handmade goods, art, and crafts. To sell on Etsy, you must create an account before you can open a storefront. Etsy charges $0.20 per listing, plus a 5% transaction fee when an item sells.</a:t>
            </a:r>
            <a:endParaRPr lang="en-IN" sz="2400" dirty="0">
              <a:latin typeface="Franklin Gothic Demi Cond" panose="020B0706030402020204" pitchFamily="34" charset="0"/>
            </a:endParaRPr>
          </a:p>
        </p:txBody>
      </p:sp>
    </p:spTree>
    <p:extLst>
      <p:ext uri="{BB962C8B-B14F-4D97-AF65-F5344CB8AC3E}">
        <p14:creationId xmlns:p14="http://schemas.microsoft.com/office/powerpoint/2010/main" val="1069145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A0826-98FB-006C-D001-6819CEC67D38}"/>
              </a:ext>
            </a:extLst>
          </p:cNvPr>
          <p:cNvSpPr>
            <a:spLocks noGrp="1"/>
          </p:cNvSpPr>
          <p:nvPr>
            <p:ph type="title"/>
          </p:nvPr>
        </p:nvSpPr>
        <p:spPr/>
        <p:txBody>
          <a:bodyPr>
            <a:normAutofit/>
          </a:bodyPr>
          <a:lstStyle/>
          <a:p>
            <a:r>
              <a:rPr lang="en-IN" sz="5400" b="1" dirty="0">
                <a:solidFill>
                  <a:schemeClr val="accent2">
                    <a:lumMod val="75000"/>
                  </a:schemeClr>
                </a:solidFill>
                <a:latin typeface="Constantia" panose="02030602050306030303" pitchFamily="18" charset="0"/>
              </a:rPr>
              <a:t>OUR SYSTEM</a:t>
            </a:r>
          </a:p>
        </p:txBody>
      </p:sp>
      <p:sp>
        <p:nvSpPr>
          <p:cNvPr id="3" name="Content Placeholder 2">
            <a:extLst>
              <a:ext uri="{FF2B5EF4-FFF2-40B4-BE49-F238E27FC236}">
                <a16:creationId xmlns:a16="http://schemas.microsoft.com/office/drawing/2014/main" id="{C857C073-103B-A566-63B0-C88130638AF2}"/>
              </a:ext>
            </a:extLst>
          </p:cNvPr>
          <p:cNvSpPr>
            <a:spLocks noGrp="1"/>
          </p:cNvSpPr>
          <p:nvPr>
            <p:ph idx="1"/>
          </p:nvPr>
        </p:nvSpPr>
        <p:spPr>
          <a:xfrm>
            <a:off x="677334" y="1672492"/>
            <a:ext cx="8596668" cy="4474308"/>
          </a:xfrm>
        </p:spPr>
        <p:txBody>
          <a:bodyPr>
            <a:normAutofit/>
          </a:bodyPr>
          <a:lstStyle/>
          <a:p>
            <a:r>
              <a:rPr lang="en-IN" sz="2000" dirty="0">
                <a:solidFill>
                  <a:schemeClr val="tx1"/>
                </a:solidFill>
                <a:latin typeface="Franklin Gothic Demi Cond" panose="020B0706030402020204" pitchFamily="34" charset="0"/>
              </a:rPr>
              <a:t>Our system is a E-commerce website from where people can buy printable products.</a:t>
            </a:r>
          </a:p>
          <a:p>
            <a:endParaRPr lang="en-IN" sz="2000" dirty="0">
              <a:solidFill>
                <a:schemeClr val="tx1"/>
              </a:solidFill>
              <a:latin typeface="Franklin Gothic Demi Cond" panose="020B0706030402020204" pitchFamily="34" charset="0"/>
            </a:endParaRPr>
          </a:p>
          <a:p>
            <a:r>
              <a:rPr lang="en-IN" sz="2000" dirty="0">
                <a:solidFill>
                  <a:schemeClr val="tx1"/>
                </a:solidFill>
                <a:latin typeface="Franklin Gothic Demi Cond" panose="020B0706030402020204" pitchFamily="34" charset="0"/>
              </a:rPr>
              <a:t>Some of the printable items that we are providing in our website:</a:t>
            </a:r>
          </a:p>
          <a:p>
            <a:pPr>
              <a:buFont typeface="Arial" panose="020B0604020202020204" pitchFamily="34" charset="0"/>
              <a:buChar char="•"/>
            </a:pPr>
            <a:r>
              <a:rPr lang="en-IN" sz="2000" dirty="0">
                <a:solidFill>
                  <a:schemeClr val="tx1"/>
                </a:solidFill>
                <a:latin typeface="Franklin Gothic Demi Cond" panose="020B0706030402020204" pitchFamily="34" charset="0"/>
              </a:rPr>
              <a:t>Digital Planners(</a:t>
            </a:r>
            <a:r>
              <a:rPr lang="en-IN" sz="2000" dirty="0" err="1">
                <a:solidFill>
                  <a:schemeClr val="tx1"/>
                </a:solidFill>
                <a:latin typeface="Franklin Gothic Demi Cond" panose="020B0706030402020204" pitchFamily="34" charset="0"/>
              </a:rPr>
              <a:t>calenders,project</a:t>
            </a:r>
            <a:r>
              <a:rPr lang="en-IN" sz="2000" dirty="0">
                <a:solidFill>
                  <a:schemeClr val="tx1"/>
                </a:solidFill>
                <a:latin typeface="Franklin Gothic Demi Cond" panose="020B0706030402020204" pitchFamily="34" charset="0"/>
              </a:rPr>
              <a:t> </a:t>
            </a:r>
            <a:r>
              <a:rPr lang="en-IN" sz="2000" dirty="0" err="1">
                <a:solidFill>
                  <a:schemeClr val="tx1"/>
                </a:solidFill>
                <a:latin typeface="Franklin Gothic Demi Cond" panose="020B0706030402020204" pitchFamily="34" charset="0"/>
              </a:rPr>
              <a:t>planners,meal</a:t>
            </a:r>
            <a:r>
              <a:rPr lang="en-IN" sz="2000" dirty="0">
                <a:solidFill>
                  <a:schemeClr val="tx1"/>
                </a:solidFill>
                <a:latin typeface="Franklin Gothic Demi Cond" panose="020B0706030402020204" pitchFamily="34" charset="0"/>
              </a:rPr>
              <a:t> </a:t>
            </a:r>
            <a:r>
              <a:rPr lang="en-IN" sz="2000" dirty="0" err="1">
                <a:solidFill>
                  <a:schemeClr val="tx1"/>
                </a:solidFill>
                <a:latin typeface="Franklin Gothic Demi Cond" panose="020B0706030402020204" pitchFamily="34" charset="0"/>
              </a:rPr>
              <a:t>planners,financial</a:t>
            </a:r>
            <a:r>
              <a:rPr lang="en-IN" sz="2000" dirty="0">
                <a:solidFill>
                  <a:schemeClr val="tx1"/>
                </a:solidFill>
                <a:latin typeface="Franklin Gothic Demi Cond" panose="020B0706030402020204" pitchFamily="34" charset="0"/>
              </a:rPr>
              <a:t> planners)</a:t>
            </a:r>
          </a:p>
          <a:p>
            <a:pPr>
              <a:buFont typeface="Arial" panose="020B0604020202020204" pitchFamily="34" charset="0"/>
              <a:buChar char="•"/>
            </a:pPr>
            <a:r>
              <a:rPr lang="en-IN" sz="2000" dirty="0">
                <a:solidFill>
                  <a:schemeClr val="tx1"/>
                </a:solidFill>
                <a:latin typeface="Franklin Gothic Demi Cond" panose="020B0706030402020204" pitchFamily="34" charset="0"/>
              </a:rPr>
              <a:t>Digital Trackers</a:t>
            </a:r>
          </a:p>
          <a:p>
            <a:pPr>
              <a:buFont typeface="Arial" panose="020B0604020202020204" pitchFamily="34" charset="0"/>
              <a:buChar char="•"/>
            </a:pPr>
            <a:r>
              <a:rPr lang="en-IN" sz="2000" dirty="0">
                <a:solidFill>
                  <a:schemeClr val="tx1"/>
                </a:solidFill>
                <a:latin typeface="Franklin Gothic Demi Cond" panose="020B0706030402020204" pitchFamily="34" charset="0"/>
              </a:rPr>
              <a:t>Digital Journals</a:t>
            </a:r>
          </a:p>
          <a:p>
            <a:pPr>
              <a:buFont typeface="Arial" panose="020B0604020202020204" pitchFamily="34" charset="0"/>
              <a:buChar char="•"/>
            </a:pPr>
            <a:r>
              <a:rPr lang="en-IN" sz="2000" dirty="0">
                <a:solidFill>
                  <a:schemeClr val="tx1"/>
                </a:solidFill>
                <a:latin typeface="Franklin Gothic Demi Cond" panose="020B0706030402020204" pitchFamily="34" charset="0"/>
              </a:rPr>
              <a:t>Digital Workbooks</a:t>
            </a:r>
          </a:p>
          <a:p>
            <a:pPr>
              <a:buFont typeface="Arial" panose="020B0604020202020204" pitchFamily="34" charset="0"/>
              <a:buChar char="•"/>
            </a:pPr>
            <a:r>
              <a:rPr lang="en-IN" sz="2000" dirty="0">
                <a:solidFill>
                  <a:schemeClr val="tx1"/>
                </a:solidFill>
                <a:latin typeface="Franklin Gothic Demi Cond" panose="020B0706030402020204" pitchFamily="34" charset="0"/>
              </a:rPr>
              <a:t>Digital Stickers</a:t>
            </a:r>
          </a:p>
          <a:p>
            <a:pPr>
              <a:buFont typeface="Arial" panose="020B0604020202020204" pitchFamily="34" charset="0"/>
              <a:buChar char="•"/>
            </a:pPr>
            <a:r>
              <a:rPr lang="en-IN" sz="2000" dirty="0">
                <a:solidFill>
                  <a:schemeClr val="tx1"/>
                </a:solidFill>
                <a:latin typeface="Franklin Gothic Demi Cond" panose="020B0706030402020204" pitchFamily="34" charset="0"/>
              </a:rPr>
              <a:t>Printable Bookmarks</a:t>
            </a:r>
          </a:p>
        </p:txBody>
      </p:sp>
      <p:pic>
        <p:nvPicPr>
          <p:cNvPr id="6" name="Picture 5">
            <a:extLst>
              <a:ext uri="{FF2B5EF4-FFF2-40B4-BE49-F238E27FC236}">
                <a16:creationId xmlns:a16="http://schemas.microsoft.com/office/drawing/2014/main" id="{6ACE3DA6-8180-619A-42D5-54A261D9DCAA}"/>
              </a:ext>
            </a:extLst>
          </p:cNvPr>
          <p:cNvPicPr>
            <a:picLocks noChangeAspect="1"/>
          </p:cNvPicPr>
          <p:nvPr/>
        </p:nvPicPr>
        <p:blipFill rotWithShape="1">
          <a:blip r:embed="rId2"/>
          <a:srcRect b="6452"/>
          <a:stretch/>
        </p:blipFill>
        <p:spPr>
          <a:xfrm>
            <a:off x="2884004" y="3429000"/>
            <a:ext cx="2964481" cy="1498601"/>
          </a:xfrm>
          <a:prstGeom prst="rect">
            <a:avLst/>
          </a:prstGeom>
        </p:spPr>
      </p:pic>
      <p:pic>
        <p:nvPicPr>
          <p:cNvPr id="7" name="Picture 6">
            <a:extLst>
              <a:ext uri="{FF2B5EF4-FFF2-40B4-BE49-F238E27FC236}">
                <a16:creationId xmlns:a16="http://schemas.microsoft.com/office/drawing/2014/main" id="{BF575869-0579-7FC3-7821-9D465E6FCBE8}"/>
              </a:ext>
            </a:extLst>
          </p:cNvPr>
          <p:cNvPicPr>
            <a:picLocks noChangeAspect="1"/>
          </p:cNvPicPr>
          <p:nvPr/>
        </p:nvPicPr>
        <p:blipFill>
          <a:blip r:embed="rId3"/>
          <a:stretch>
            <a:fillRect/>
          </a:stretch>
        </p:blipFill>
        <p:spPr>
          <a:xfrm>
            <a:off x="6468412" y="3429000"/>
            <a:ext cx="1951818" cy="138046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7">
            <a:extLst>
              <a:ext uri="{FF2B5EF4-FFF2-40B4-BE49-F238E27FC236}">
                <a16:creationId xmlns:a16="http://schemas.microsoft.com/office/drawing/2014/main" id="{0A08C07E-8113-D287-8D64-E633ED6318D0}"/>
              </a:ext>
            </a:extLst>
          </p:cNvPr>
          <p:cNvPicPr>
            <a:picLocks noChangeAspect="1"/>
          </p:cNvPicPr>
          <p:nvPr/>
        </p:nvPicPr>
        <p:blipFill>
          <a:blip r:embed="rId4"/>
          <a:stretch>
            <a:fillRect/>
          </a:stretch>
        </p:blipFill>
        <p:spPr>
          <a:xfrm>
            <a:off x="3611959" y="5024210"/>
            <a:ext cx="2236526" cy="17321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9">
            <a:extLst>
              <a:ext uri="{FF2B5EF4-FFF2-40B4-BE49-F238E27FC236}">
                <a16:creationId xmlns:a16="http://schemas.microsoft.com/office/drawing/2014/main" id="{8529659D-E2C7-78E8-D8B3-51CB6695B5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68412" y="4949347"/>
            <a:ext cx="1866123" cy="1866123"/>
          </a:xfrm>
          <a:prstGeom prst="rect">
            <a:avLst/>
          </a:prstGeom>
        </p:spPr>
      </p:pic>
    </p:spTree>
    <p:extLst>
      <p:ext uri="{BB962C8B-B14F-4D97-AF65-F5344CB8AC3E}">
        <p14:creationId xmlns:p14="http://schemas.microsoft.com/office/powerpoint/2010/main" val="323227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BE8A2-6450-B452-3133-ACB31D498008}"/>
              </a:ext>
            </a:extLst>
          </p:cNvPr>
          <p:cNvSpPr>
            <a:spLocks noGrp="1"/>
          </p:cNvSpPr>
          <p:nvPr>
            <p:ph type="title"/>
          </p:nvPr>
        </p:nvSpPr>
        <p:spPr/>
        <p:txBody>
          <a:bodyPr>
            <a:normAutofit/>
          </a:bodyPr>
          <a:lstStyle/>
          <a:p>
            <a:r>
              <a:rPr lang="en-IN" sz="4800" dirty="0">
                <a:solidFill>
                  <a:schemeClr val="accent2">
                    <a:lumMod val="75000"/>
                  </a:schemeClr>
                </a:solidFill>
                <a:latin typeface="Constantia" panose="02030602050306030303" pitchFamily="18" charset="0"/>
              </a:rPr>
              <a:t>FEATURES</a:t>
            </a:r>
          </a:p>
        </p:txBody>
      </p:sp>
      <p:sp>
        <p:nvSpPr>
          <p:cNvPr id="3" name="Content Placeholder 2">
            <a:extLst>
              <a:ext uri="{FF2B5EF4-FFF2-40B4-BE49-F238E27FC236}">
                <a16:creationId xmlns:a16="http://schemas.microsoft.com/office/drawing/2014/main" id="{5EA00A0F-4586-00F7-4DBD-829A46B185F5}"/>
              </a:ext>
            </a:extLst>
          </p:cNvPr>
          <p:cNvSpPr>
            <a:spLocks noGrp="1"/>
          </p:cNvSpPr>
          <p:nvPr>
            <p:ph idx="1"/>
          </p:nvPr>
        </p:nvSpPr>
        <p:spPr>
          <a:xfrm>
            <a:off x="677334" y="1719385"/>
            <a:ext cx="8596668" cy="4321977"/>
          </a:xfrm>
        </p:spPr>
        <p:txBody>
          <a:bodyPr>
            <a:normAutofit fontScale="92500" lnSpcReduction="10000"/>
          </a:bodyPr>
          <a:lstStyle/>
          <a:p>
            <a:pPr>
              <a:buFont typeface="Wingdings" panose="05000000000000000000" pitchFamily="2" charset="2"/>
              <a:buChar char="v"/>
            </a:pPr>
            <a:r>
              <a:rPr lang="en-IN" sz="2400" dirty="0">
                <a:solidFill>
                  <a:schemeClr val="tx1"/>
                </a:solidFill>
                <a:latin typeface="Franklin Gothic Demi Cond" panose="020B0706030402020204" pitchFamily="34" charset="0"/>
              </a:rPr>
              <a:t>Menu</a:t>
            </a:r>
          </a:p>
          <a:p>
            <a:pPr>
              <a:buFont typeface="Wingdings" panose="05000000000000000000" pitchFamily="2" charset="2"/>
              <a:buChar char="v"/>
            </a:pPr>
            <a:r>
              <a:rPr lang="en-IN" sz="2400" dirty="0" err="1">
                <a:solidFill>
                  <a:schemeClr val="tx1"/>
                </a:solidFill>
                <a:latin typeface="Franklin Gothic Demi Cond" panose="020B0706030402020204" pitchFamily="34" charset="0"/>
              </a:rPr>
              <a:t>Catalog</a:t>
            </a:r>
            <a:r>
              <a:rPr lang="en-IN" sz="2400" dirty="0">
                <a:solidFill>
                  <a:schemeClr val="tx1"/>
                </a:solidFill>
                <a:latin typeface="Franklin Gothic Demi Cond" panose="020B0706030402020204" pitchFamily="34" charset="0"/>
              </a:rPr>
              <a:t> Browsing</a:t>
            </a:r>
          </a:p>
          <a:p>
            <a:pPr marL="0" indent="0">
              <a:buNone/>
            </a:pPr>
            <a:r>
              <a:rPr lang="en-IN" sz="2400" dirty="0">
                <a:solidFill>
                  <a:schemeClr val="tx1"/>
                </a:solidFill>
                <a:latin typeface="Franklin Gothic Demi Cond" panose="020B0706030402020204" pitchFamily="34" charset="0"/>
              </a:rPr>
              <a:t>      Category List</a:t>
            </a:r>
          </a:p>
          <a:p>
            <a:pPr marL="0" indent="0">
              <a:buNone/>
            </a:pPr>
            <a:r>
              <a:rPr lang="en-IN" sz="2400" dirty="0">
                <a:solidFill>
                  <a:schemeClr val="tx1"/>
                </a:solidFill>
                <a:latin typeface="Franklin Gothic Demi Cond" panose="020B0706030402020204" pitchFamily="34" charset="0"/>
              </a:rPr>
              <a:t>       Product List</a:t>
            </a:r>
          </a:p>
          <a:p>
            <a:pPr>
              <a:buFont typeface="Wingdings" panose="05000000000000000000" pitchFamily="2" charset="2"/>
              <a:buChar char="v"/>
            </a:pPr>
            <a:r>
              <a:rPr lang="en-IN" sz="2400" dirty="0">
                <a:solidFill>
                  <a:schemeClr val="tx1"/>
                </a:solidFill>
                <a:latin typeface="Franklin Gothic Demi Cond" panose="020B0706030402020204" pitchFamily="34" charset="0"/>
              </a:rPr>
              <a:t> </a:t>
            </a:r>
            <a:r>
              <a:rPr lang="en-IN" sz="2400" dirty="0" err="1">
                <a:solidFill>
                  <a:schemeClr val="tx1"/>
                </a:solidFill>
                <a:latin typeface="Franklin Gothic Demi Cond" panose="020B0706030402020204" pitchFamily="34" charset="0"/>
              </a:rPr>
              <a:t>Catalog</a:t>
            </a:r>
            <a:r>
              <a:rPr lang="en-IN" sz="2400" dirty="0">
                <a:solidFill>
                  <a:schemeClr val="tx1"/>
                </a:solidFill>
                <a:latin typeface="Franklin Gothic Demi Cond" panose="020B0706030402020204" pitchFamily="34" charset="0"/>
              </a:rPr>
              <a:t> Management </a:t>
            </a:r>
          </a:p>
          <a:p>
            <a:pPr>
              <a:buFont typeface="Wingdings" panose="05000000000000000000" pitchFamily="2" charset="2"/>
              <a:buChar char="v"/>
            </a:pPr>
            <a:r>
              <a:rPr lang="en-IN" sz="2400" dirty="0">
                <a:solidFill>
                  <a:schemeClr val="tx1"/>
                </a:solidFill>
                <a:latin typeface="Franklin Gothic Demi Cond" panose="020B0706030402020204" pitchFamily="34" charset="0"/>
              </a:rPr>
              <a:t>Product Browsing</a:t>
            </a:r>
          </a:p>
          <a:p>
            <a:pPr marL="0" indent="0">
              <a:buNone/>
            </a:pPr>
            <a:r>
              <a:rPr lang="en-IN" sz="2400" dirty="0">
                <a:solidFill>
                  <a:schemeClr val="tx1"/>
                </a:solidFill>
                <a:latin typeface="Franklin Gothic Demi Cond" panose="020B0706030402020204" pitchFamily="34" charset="0"/>
              </a:rPr>
              <a:t>       Product Reviews</a:t>
            </a:r>
          </a:p>
          <a:p>
            <a:pPr marL="0" indent="0">
              <a:buNone/>
            </a:pPr>
            <a:r>
              <a:rPr lang="en-IN" sz="2400" dirty="0">
                <a:solidFill>
                  <a:schemeClr val="tx1"/>
                </a:solidFill>
                <a:latin typeface="Franklin Gothic Demi Cond" panose="020B0706030402020204" pitchFamily="34" charset="0"/>
              </a:rPr>
              <a:t>       Related Products</a:t>
            </a:r>
          </a:p>
          <a:p>
            <a:pPr>
              <a:buFont typeface="Wingdings" panose="05000000000000000000" pitchFamily="2" charset="2"/>
              <a:buChar char="v"/>
            </a:pPr>
            <a:r>
              <a:rPr lang="en-IN" sz="2400" dirty="0">
                <a:solidFill>
                  <a:schemeClr val="tx1"/>
                </a:solidFill>
                <a:latin typeface="Franklin Gothic Demi Cond" panose="020B0706030402020204" pitchFamily="34" charset="0"/>
              </a:rPr>
              <a:t>Shopping Cart</a:t>
            </a:r>
          </a:p>
          <a:p>
            <a:pPr>
              <a:buFont typeface="Wingdings" panose="05000000000000000000" pitchFamily="2" charset="2"/>
              <a:buChar char="v"/>
            </a:pPr>
            <a:r>
              <a:rPr lang="en-IN" sz="2400" dirty="0">
                <a:solidFill>
                  <a:schemeClr val="tx1"/>
                </a:solidFill>
                <a:latin typeface="Franklin Gothic Demi Cond" panose="020B0706030402020204" pitchFamily="34" charset="0"/>
              </a:rPr>
              <a:t>Account</a:t>
            </a:r>
          </a:p>
          <a:p>
            <a:pPr marL="0" indent="0">
              <a:buNone/>
            </a:pPr>
            <a:endParaRPr lang="en-IN" dirty="0"/>
          </a:p>
        </p:txBody>
      </p:sp>
      <p:pic>
        <p:nvPicPr>
          <p:cNvPr id="4" name="Picture 3">
            <a:extLst>
              <a:ext uri="{FF2B5EF4-FFF2-40B4-BE49-F238E27FC236}">
                <a16:creationId xmlns:a16="http://schemas.microsoft.com/office/drawing/2014/main" id="{25EC7213-1C27-A7B4-B18B-D99D2DEC0D89}"/>
              </a:ext>
            </a:extLst>
          </p:cNvPr>
          <p:cNvPicPr>
            <a:picLocks noChangeAspect="1"/>
          </p:cNvPicPr>
          <p:nvPr/>
        </p:nvPicPr>
        <p:blipFill rotWithShape="1">
          <a:blip r:embed="rId2"/>
          <a:srcRect b="7729"/>
          <a:stretch/>
        </p:blipFill>
        <p:spPr>
          <a:xfrm>
            <a:off x="4446343" y="2384670"/>
            <a:ext cx="3533775" cy="2460868"/>
          </a:xfrm>
          <a:prstGeom prst="rect">
            <a:avLst/>
          </a:prstGeom>
          <a:ln>
            <a:noFill/>
          </a:ln>
          <a:effectLst>
            <a:softEdge rad="112500"/>
          </a:effectLst>
        </p:spPr>
      </p:pic>
    </p:spTree>
    <p:extLst>
      <p:ext uri="{BB962C8B-B14F-4D97-AF65-F5344CB8AC3E}">
        <p14:creationId xmlns:p14="http://schemas.microsoft.com/office/powerpoint/2010/main" val="2791686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2BEA1-5DBF-92A2-8EE1-CBDA2E2680A5}"/>
              </a:ext>
            </a:extLst>
          </p:cNvPr>
          <p:cNvSpPr>
            <a:spLocks noGrp="1"/>
          </p:cNvSpPr>
          <p:nvPr>
            <p:ph type="title"/>
          </p:nvPr>
        </p:nvSpPr>
        <p:spPr/>
        <p:txBody>
          <a:bodyPr>
            <a:normAutofit/>
          </a:bodyPr>
          <a:lstStyle/>
          <a:p>
            <a:r>
              <a:rPr lang="en-IN" sz="4800" b="1" dirty="0">
                <a:solidFill>
                  <a:schemeClr val="accent2">
                    <a:lumMod val="75000"/>
                  </a:schemeClr>
                </a:solidFill>
                <a:latin typeface="Constantia" panose="02030602050306030303" pitchFamily="18" charset="0"/>
              </a:rPr>
              <a:t>LANGUAGES</a:t>
            </a:r>
          </a:p>
        </p:txBody>
      </p:sp>
      <p:sp>
        <p:nvSpPr>
          <p:cNvPr id="3" name="Content Placeholder 2">
            <a:extLst>
              <a:ext uri="{FF2B5EF4-FFF2-40B4-BE49-F238E27FC236}">
                <a16:creationId xmlns:a16="http://schemas.microsoft.com/office/drawing/2014/main" id="{EF6B1084-29E4-FB8B-9FDC-3C6B0F551AD4}"/>
              </a:ext>
            </a:extLst>
          </p:cNvPr>
          <p:cNvSpPr>
            <a:spLocks noGrp="1"/>
          </p:cNvSpPr>
          <p:nvPr>
            <p:ph idx="1"/>
          </p:nvPr>
        </p:nvSpPr>
        <p:spPr/>
        <p:txBody>
          <a:bodyPr>
            <a:normAutofit/>
          </a:bodyPr>
          <a:lstStyle/>
          <a:p>
            <a:r>
              <a:rPr lang="en-IN" sz="3200" dirty="0" err="1">
                <a:latin typeface="Franklin Gothic Demi Cond" panose="020B0706030402020204" pitchFamily="34" charset="0"/>
              </a:rPr>
              <a:t>HyperText</a:t>
            </a:r>
            <a:r>
              <a:rPr lang="en-IN" sz="3200" dirty="0">
                <a:latin typeface="Franklin Gothic Demi Cond" panose="020B0706030402020204" pitchFamily="34" charset="0"/>
              </a:rPr>
              <a:t> Markup Language(HTML)</a:t>
            </a:r>
          </a:p>
          <a:p>
            <a:r>
              <a:rPr lang="en-IN" sz="3200" dirty="0">
                <a:latin typeface="Franklin Gothic Demi Cond" panose="020B0706030402020204" pitchFamily="34" charset="0"/>
              </a:rPr>
              <a:t>Cascading Style Sheets(CSS)</a:t>
            </a:r>
          </a:p>
          <a:p>
            <a:r>
              <a:rPr lang="en-IN" sz="3200" dirty="0">
                <a:latin typeface="Franklin Gothic Demi Cond" panose="020B0706030402020204" pitchFamily="34" charset="0"/>
              </a:rPr>
              <a:t>Bootstrap</a:t>
            </a:r>
          </a:p>
          <a:p>
            <a:r>
              <a:rPr lang="en-IN" sz="3200" dirty="0">
                <a:latin typeface="Franklin Gothic Demi Cond" panose="020B0706030402020204" pitchFamily="34" charset="0"/>
              </a:rPr>
              <a:t>PHP</a:t>
            </a:r>
          </a:p>
          <a:p>
            <a:r>
              <a:rPr lang="en-IN" sz="3200" dirty="0">
                <a:latin typeface="Franklin Gothic Demi Cond" panose="020B0706030402020204" pitchFamily="34" charset="0"/>
              </a:rPr>
              <a:t>MySQL</a:t>
            </a:r>
          </a:p>
        </p:txBody>
      </p:sp>
    </p:spTree>
    <p:extLst>
      <p:ext uri="{BB962C8B-B14F-4D97-AF65-F5344CB8AC3E}">
        <p14:creationId xmlns:p14="http://schemas.microsoft.com/office/powerpoint/2010/main" val="30183884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79203D-5AA5-4123-EF40-102085B6D6E4}"/>
              </a:ext>
            </a:extLst>
          </p:cNvPr>
          <p:cNvSpPr>
            <a:spLocks noGrp="1"/>
          </p:cNvSpPr>
          <p:nvPr>
            <p:ph type="title"/>
          </p:nvPr>
        </p:nvSpPr>
        <p:spPr/>
        <p:txBody>
          <a:bodyPr>
            <a:normAutofit/>
          </a:bodyPr>
          <a:lstStyle/>
          <a:p>
            <a:r>
              <a:rPr lang="en-IN" sz="4800" b="1" dirty="0">
                <a:solidFill>
                  <a:schemeClr val="accent2">
                    <a:lumMod val="75000"/>
                  </a:schemeClr>
                </a:solidFill>
                <a:latin typeface="Constantia" panose="02030602050306030303" pitchFamily="18" charset="0"/>
              </a:rPr>
              <a:t>UI DIAGRAM</a:t>
            </a:r>
          </a:p>
        </p:txBody>
      </p:sp>
      <p:pic>
        <p:nvPicPr>
          <p:cNvPr id="4" name="Content Placeholder 3">
            <a:extLst>
              <a:ext uri="{FF2B5EF4-FFF2-40B4-BE49-F238E27FC236}">
                <a16:creationId xmlns:a16="http://schemas.microsoft.com/office/drawing/2014/main" id="{E0BA3680-09B4-C68D-37E9-AF853F9391B1}"/>
              </a:ext>
            </a:extLst>
          </p:cNvPr>
          <p:cNvPicPr>
            <a:picLocks noGrp="1" noChangeAspect="1"/>
          </p:cNvPicPr>
          <p:nvPr>
            <p:ph idx="1"/>
          </p:nvPr>
        </p:nvPicPr>
        <p:blipFill>
          <a:blip r:embed="rId2"/>
          <a:stretch>
            <a:fillRect/>
          </a:stretch>
        </p:blipFill>
        <p:spPr>
          <a:xfrm>
            <a:off x="596482" y="1639019"/>
            <a:ext cx="9047850" cy="5086933"/>
          </a:xfrm>
          <a:prstGeom prst="rect">
            <a:avLst/>
          </a:prstGeom>
        </p:spPr>
      </p:pic>
    </p:spTree>
    <p:extLst>
      <p:ext uri="{BB962C8B-B14F-4D97-AF65-F5344CB8AC3E}">
        <p14:creationId xmlns:p14="http://schemas.microsoft.com/office/powerpoint/2010/main" val="2623372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CAD2C-9482-EEAB-B53E-E663D5FCB723}"/>
              </a:ext>
            </a:extLst>
          </p:cNvPr>
          <p:cNvSpPr>
            <a:spLocks noGrp="1"/>
          </p:cNvSpPr>
          <p:nvPr>
            <p:ph type="title"/>
          </p:nvPr>
        </p:nvSpPr>
        <p:spPr/>
        <p:txBody>
          <a:bodyPr>
            <a:normAutofit/>
          </a:bodyPr>
          <a:lstStyle/>
          <a:p>
            <a:r>
              <a:rPr lang="en-IN" sz="4800" dirty="0">
                <a:solidFill>
                  <a:schemeClr val="accent2">
                    <a:lumMod val="75000"/>
                  </a:schemeClr>
                </a:solidFill>
                <a:latin typeface="Constantia" panose="02030602050306030303" pitchFamily="18" charset="0"/>
              </a:rPr>
              <a:t>VALUE PROPOSITION</a:t>
            </a:r>
          </a:p>
        </p:txBody>
      </p:sp>
      <p:sp>
        <p:nvSpPr>
          <p:cNvPr id="3" name="Content Placeholder 2">
            <a:extLst>
              <a:ext uri="{FF2B5EF4-FFF2-40B4-BE49-F238E27FC236}">
                <a16:creationId xmlns:a16="http://schemas.microsoft.com/office/drawing/2014/main" id="{CD8A58D8-82E8-C904-25DC-406B33DB8694}"/>
              </a:ext>
            </a:extLst>
          </p:cNvPr>
          <p:cNvSpPr>
            <a:spLocks noGrp="1"/>
          </p:cNvSpPr>
          <p:nvPr>
            <p:ph idx="1"/>
          </p:nvPr>
        </p:nvSpPr>
        <p:spPr/>
        <p:txBody>
          <a:bodyPr>
            <a:normAutofit/>
          </a:bodyPr>
          <a:lstStyle/>
          <a:p>
            <a:r>
              <a:rPr lang="en-IN" sz="2800" dirty="0">
                <a:solidFill>
                  <a:schemeClr val="tx1"/>
                </a:solidFill>
                <a:latin typeface="Franklin Gothic Demi Cond" panose="020B0706030402020204" pitchFamily="34" charset="0"/>
              </a:rPr>
              <a:t>Our website is providing digitalised and printable products to the customers without them worrying about the shipping prices and delivery time.</a:t>
            </a:r>
          </a:p>
          <a:p>
            <a:r>
              <a:rPr lang="en-IN" sz="2800" dirty="0">
                <a:solidFill>
                  <a:schemeClr val="tx1"/>
                </a:solidFill>
                <a:latin typeface="Franklin Gothic Demi Cond" panose="020B0706030402020204" pitchFamily="34" charset="0"/>
              </a:rPr>
              <a:t>We will be providing a FAQ section where people can ask us to customize a </a:t>
            </a:r>
            <a:r>
              <a:rPr lang="en-IN" sz="2800" dirty="0" err="1">
                <a:solidFill>
                  <a:schemeClr val="tx1"/>
                </a:solidFill>
                <a:latin typeface="Franklin Gothic Demi Cond" panose="020B0706030402020204" pitchFamily="34" charset="0"/>
              </a:rPr>
              <a:t>choosen</a:t>
            </a:r>
            <a:r>
              <a:rPr lang="en-IN" sz="2800" dirty="0">
                <a:solidFill>
                  <a:schemeClr val="tx1"/>
                </a:solidFill>
                <a:latin typeface="Franklin Gothic Demi Cond" panose="020B0706030402020204" pitchFamily="34" charset="0"/>
              </a:rPr>
              <a:t> product.</a:t>
            </a:r>
          </a:p>
          <a:p>
            <a:r>
              <a:rPr lang="en-IN" sz="2800" dirty="0">
                <a:solidFill>
                  <a:schemeClr val="tx1"/>
                </a:solidFill>
                <a:latin typeface="Franklin Gothic Demi Cond" panose="020B0706030402020204" pitchFamily="34" charset="0"/>
              </a:rPr>
              <a:t>People can just download these templates in their phones, </a:t>
            </a:r>
            <a:r>
              <a:rPr lang="en-IN" sz="2800" dirty="0" err="1">
                <a:solidFill>
                  <a:schemeClr val="tx1"/>
                </a:solidFill>
                <a:latin typeface="Franklin Gothic Demi Cond" panose="020B0706030402020204" pitchFamily="34" charset="0"/>
              </a:rPr>
              <a:t>i</a:t>
            </a:r>
            <a:r>
              <a:rPr lang="en-IN" sz="2800" dirty="0">
                <a:solidFill>
                  <a:schemeClr val="tx1"/>
                </a:solidFill>
                <a:latin typeface="Franklin Gothic Demi Cond" panose="020B0706030402020204" pitchFamily="34" charset="0"/>
              </a:rPr>
              <a:t>-pads and laptops.</a:t>
            </a:r>
          </a:p>
        </p:txBody>
      </p:sp>
    </p:spTree>
    <p:extLst>
      <p:ext uri="{BB962C8B-B14F-4D97-AF65-F5344CB8AC3E}">
        <p14:creationId xmlns:p14="http://schemas.microsoft.com/office/powerpoint/2010/main" val="36464978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D1AC4-5388-F718-E704-0F443823F015}"/>
              </a:ext>
            </a:extLst>
          </p:cNvPr>
          <p:cNvSpPr>
            <a:spLocks noGrp="1"/>
          </p:cNvSpPr>
          <p:nvPr>
            <p:ph type="title"/>
          </p:nvPr>
        </p:nvSpPr>
        <p:spPr/>
        <p:txBody>
          <a:bodyPr>
            <a:normAutofit/>
          </a:bodyPr>
          <a:lstStyle/>
          <a:p>
            <a:r>
              <a:rPr lang="en-IN" sz="4800" b="1" dirty="0">
                <a:solidFill>
                  <a:schemeClr val="accent2">
                    <a:lumMod val="75000"/>
                  </a:schemeClr>
                </a:solidFill>
                <a:latin typeface="Constantia" panose="02030602050306030303" pitchFamily="18" charset="0"/>
              </a:rPr>
              <a:t>FUTURE ENHANCEMENT</a:t>
            </a:r>
          </a:p>
        </p:txBody>
      </p:sp>
      <p:sp>
        <p:nvSpPr>
          <p:cNvPr id="3" name="Content Placeholder 2">
            <a:extLst>
              <a:ext uri="{FF2B5EF4-FFF2-40B4-BE49-F238E27FC236}">
                <a16:creationId xmlns:a16="http://schemas.microsoft.com/office/drawing/2014/main" id="{688C133E-89C7-A9FA-A99F-DB0DDA2C7858}"/>
              </a:ext>
            </a:extLst>
          </p:cNvPr>
          <p:cNvSpPr>
            <a:spLocks noGrp="1"/>
          </p:cNvSpPr>
          <p:nvPr>
            <p:ph idx="1"/>
          </p:nvPr>
        </p:nvSpPr>
        <p:spPr/>
        <p:txBody>
          <a:bodyPr/>
          <a:lstStyle/>
          <a:p>
            <a:r>
              <a:rPr lang="en-IN" sz="3200" dirty="0">
                <a:solidFill>
                  <a:schemeClr val="tx1"/>
                </a:solidFill>
                <a:latin typeface="Franklin Gothic Demi Cond" panose="020B0706030402020204" pitchFamily="34" charset="0"/>
              </a:rPr>
              <a:t>Making a platform where freelancers can provide their own designs and show their creativity.</a:t>
            </a:r>
          </a:p>
          <a:p>
            <a:r>
              <a:rPr lang="en-IN" sz="3200" dirty="0">
                <a:solidFill>
                  <a:schemeClr val="tx1"/>
                </a:solidFill>
                <a:latin typeface="Franklin Gothic Demi Cond" panose="020B0706030402020204" pitchFamily="34" charset="0"/>
              </a:rPr>
              <a:t>They can earn money .</a:t>
            </a:r>
          </a:p>
          <a:p>
            <a:r>
              <a:rPr lang="en-IN" sz="3200" dirty="0">
                <a:solidFill>
                  <a:schemeClr val="tx1"/>
                </a:solidFill>
                <a:latin typeface="Franklin Gothic Demi Cond" panose="020B0706030402020204" pitchFamily="34" charset="0"/>
              </a:rPr>
              <a:t>We can create website and blogs design.</a:t>
            </a:r>
          </a:p>
        </p:txBody>
      </p:sp>
    </p:spTree>
    <p:extLst>
      <p:ext uri="{BB962C8B-B14F-4D97-AF65-F5344CB8AC3E}">
        <p14:creationId xmlns:p14="http://schemas.microsoft.com/office/powerpoint/2010/main" val="1357757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9B4E9-BEF9-FAEE-2FCA-B3C668F6994F}"/>
              </a:ext>
            </a:extLst>
          </p:cNvPr>
          <p:cNvSpPr>
            <a:spLocks noGrp="1"/>
          </p:cNvSpPr>
          <p:nvPr>
            <p:ph type="title"/>
          </p:nvPr>
        </p:nvSpPr>
        <p:spPr/>
        <p:txBody>
          <a:bodyPr>
            <a:normAutofit/>
          </a:bodyPr>
          <a:lstStyle/>
          <a:p>
            <a:r>
              <a:rPr lang="en-IN" sz="5400" dirty="0">
                <a:solidFill>
                  <a:schemeClr val="accent2">
                    <a:lumMod val="75000"/>
                  </a:schemeClr>
                </a:solidFill>
                <a:latin typeface="Constantia" panose="02030602050306030303" pitchFamily="18" charset="0"/>
              </a:rPr>
              <a:t>GROUP MEMBERS</a:t>
            </a:r>
          </a:p>
        </p:txBody>
      </p:sp>
      <p:sp>
        <p:nvSpPr>
          <p:cNvPr id="3" name="Content Placeholder 2">
            <a:extLst>
              <a:ext uri="{FF2B5EF4-FFF2-40B4-BE49-F238E27FC236}">
                <a16:creationId xmlns:a16="http://schemas.microsoft.com/office/drawing/2014/main" id="{FFD80E07-49EC-7825-E926-0A1F3738CEBC}"/>
              </a:ext>
            </a:extLst>
          </p:cNvPr>
          <p:cNvSpPr>
            <a:spLocks noGrp="1"/>
          </p:cNvSpPr>
          <p:nvPr>
            <p:ph idx="1"/>
          </p:nvPr>
        </p:nvSpPr>
        <p:spPr/>
        <p:txBody>
          <a:bodyPr>
            <a:normAutofit/>
          </a:bodyPr>
          <a:lstStyle/>
          <a:p>
            <a:r>
              <a:rPr lang="en-IN" sz="2800" dirty="0">
                <a:solidFill>
                  <a:schemeClr val="tx1"/>
                </a:solidFill>
                <a:latin typeface="Franklin Gothic Demi Cond" panose="020B0706030402020204" pitchFamily="34" charset="0"/>
              </a:rPr>
              <a:t>AGRIMA MAHARANA</a:t>
            </a:r>
          </a:p>
          <a:p>
            <a:r>
              <a:rPr lang="en-IN" sz="2800" dirty="0">
                <a:solidFill>
                  <a:schemeClr val="tx1"/>
                </a:solidFill>
                <a:latin typeface="Franklin Gothic Demi Cond" panose="020B0706030402020204" pitchFamily="34" charset="0"/>
              </a:rPr>
              <a:t>AMISHA PATRA </a:t>
            </a:r>
          </a:p>
          <a:p>
            <a:r>
              <a:rPr lang="en-IN" sz="2800" dirty="0">
                <a:solidFill>
                  <a:schemeClr val="tx1"/>
                </a:solidFill>
                <a:latin typeface="Franklin Gothic Demi Cond" panose="020B0706030402020204" pitchFamily="34" charset="0"/>
              </a:rPr>
              <a:t>BANOTHU JAMUNA </a:t>
            </a:r>
          </a:p>
          <a:p>
            <a:r>
              <a:rPr lang="en-IN" sz="2800" dirty="0">
                <a:solidFill>
                  <a:schemeClr val="tx1"/>
                </a:solidFill>
                <a:latin typeface="Franklin Gothic Demi Cond" panose="020B0706030402020204" pitchFamily="34" charset="0"/>
              </a:rPr>
              <a:t>DUVVAPU KOUSALYA </a:t>
            </a:r>
          </a:p>
          <a:p>
            <a:endParaRPr lang="en-IN" sz="2800" dirty="0">
              <a:solidFill>
                <a:schemeClr val="tx1"/>
              </a:solidFill>
              <a:latin typeface="Franklin Gothic Demi Cond" panose="020B0706030402020204" pitchFamily="34" charset="0"/>
            </a:endParaRPr>
          </a:p>
          <a:p>
            <a:pPr marL="0" indent="0">
              <a:buNone/>
            </a:pPr>
            <a:r>
              <a:rPr lang="en-IN" sz="2800" dirty="0">
                <a:solidFill>
                  <a:schemeClr val="tx1"/>
                </a:solidFill>
                <a:latin typeface="Franklin Gothic Demi Cond" panose="020B0706030402020204" pitchFamily="34" charset="0"/>
              </a:rPr>
              <a:t>DEPARTMENT: CSE-A</a:t>
            </a:r>
          </a:p>
        </p:txBody>
      </p:sp>
    </p:spTree>
    <p:extLst>
      <p:ext uri="{BB962C8B-B14F-4D97-AF65-F5344CB8AC3E}">
        <p14:creationId xmlns:p14="http://schemas.microsoft.com/office/powerpoint/2010/main" val="1334008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7F8DD-A100-72AF-4335-B356E72402AE}"/>
              </a:ext>
            </a:extLst>
          </p:cNvPr>
          <p:cNvSpPr>
            <a:spLocks noGrp="1"/>
          </p:cNvSpPr>
          <p:nvPr>
            <p:ph type="title"/>
          </p:nvPr>
        </p:nvSpPr>
        <p:spPr>
          <a:xfrm flipH="1">
            <a:off x="1268082" y="609600"/>
            <a:ext cx="8051637" cy="1426234"/>
          </a:xfrm>
        </p:spPr>
        <p:txBody>
          <a:bodyPr>
            <a:normAutofit fontScale="90000"/>
          </a:bodyPr>
          <a:lstStyle/>
          <a:p>
            <a:br>
              <a:rPr lang="en-IN" dirty="0"/>
            </a:br>
            <a:br>
              <a:rPr lang="en-IN" dirty="0"/>
            </a:br>
            <a:br>
              <a:rPr lang="en-IN" dirty="0"/>
            </a:br>
            <a:br>
              <a:rPr lang="en-IN" dirty="0"/>
            </a:br>
            <a:br>
              <a:rPr lang="en-IN" dirty="0"/>
            </a:br>
            <a:br>
              <a:rPr lang="en-IN" dirty="0"/>
            </a:br>
            <a:br>
              <a:rPr lang="en-IN" dirty="0"/>
            </a:br>
            <a:br>
              <a:rPr lang="en-IN" dirty="0"/>
            </a:br>
            <a:endParaRPr lang="en-IN" dirty="0"/>
          </a:p>
        </p:txBody>
      </p:sp>
      <p:sp>
        <p:nvSpPr>
          <p:cNvPr id="3" name="Content Placeholder 2">
            <a:extLst>
              <a:ext uri="{FF2B5EF4-FFF2-40B4-BE49-F238E27FC236}">
                <a16:creationId xmlns:a16="http://schemas.microsoft.com/office/drawing/2014/main" id="{29639BB6-A38E-5724-074C-93356ADC2BAE}"/>
              </a:ext>
            </a:extLst>
          </p:cNvPr>
          <p:cNvSpPr>
            <a:spLocks noGrp="1"/>
          </p:cNvSpPr>
          <p:nvPr>
            <p:ph idx="1"/>
          </p:nvPr>
        </p:nvSpPr>
        <p:spPr/>
        <p:txBody>
          <a:bodyPr>
            <a:normAutofit/>
          </a:bodyPr>
          <a:lstStyle/>
          <a:p>
            <a:pPr marL="0" indent="0" algn="ctr">
              <a:buNone/>
            </a:pPr>
            <a:r>
              <a:rPr lang="en-IN" sz="8800" dirty="0">
                <a:solidFill>
                  <a:schemeClr val="accent2">
                    <a:lumMod val="60000"/>
                    <a:lumOff val="40000"/>
                  </a:schemeClr>
                </a:solidFill>
                <a:effectLst>
                  <a:outerShdw blurRad="38100" dist="38100" dir="2700000" algn="tl">
                    <a:srgbClr val="000000">
                      <a:alpha val="43137"/>
                    </a:srgbClr>
                  </a:outerShdw>
                </a:effectLst>
                <a:latin typeface="Algerian" panose="04020705040A02060702" pitchFamily="82" charset="0"/>
              </a:rPr>
              <a:t>THANK YOU</a:t>
            </a:r>
          </a:p>
        </p:txBody>
      </p:sp>
    </p:spTree>
    <p:extLst>
      <p:ext uri="{BB962C8B-B14F-4D97-AF65-F5344CB8AC3E}">
        <p14:creationId xmlns:p14="http://schemas.microsoft.com/office/powerpoint/2010/main" val="2276249702"/>
      </p:ext>
    </p:extLst>
  </p:cSld>
  <p:clrMapOvr>
    <a:masterClrMapping/>
  </p:clrMapOvr>
</p:sld>
</file>

<file path=ppt/theme/theme1.xml><?xml version="1.0" encoding="utf-8"?>
<a:theme xmlns:a="http://schemas.openxmlformats.org/drawingml/2006/main" name="Facet">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0</TotalTime>
  <Words>503</Words>
  <Application>Microsoft Office PowerPoint</Application>
  <PresentationFormat>Widescreen</PresentationFormat>
  <Paragraphs>59</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Algerian</vt:lpstr>
      <vt:lpstr>Arial</vt:lpstr>
      <vt:lpstr>Arial Black</vt:lpstr>
      <vt:lpstr>Constantia</vt:lpstr>
      <vt:lpstr>Franklin Gothic Demi Cond</vt:lpstr>
      <vt:lpstr>Trebuchet MS</vt:lpstr>
      <vt:lpstr>Wingdings</vt:lpstr>
      <vt:lpstr>Wingdings 3</vt:lpstr>
      <vt:lpstr>Facet</vt:lpstr>
      <vt:lpstr>E-COMMERCE WEBSITE</vt:lpstr>
      <vt:lpstr>WHAT IS E-COMMERCE ?</vt:lpstr>
      <vt:lpstr>WHY USE E-COMMERCE ?</vt:lpstr>
      <vt:lpstr>PROBLEM STATEMENT  </vt:lpstr>
      <vt:lpstr>EXISTING SOLUTIONS</vt:lpstr>
      <vt:lpstr>OUR SYSTEM</vt:lpstr>
      <vt:lpstr>FEATURES</vt:lpstr>
      <vt:lpstr>LANGUAGES</vt:lpstr>
      <vt:lpstr>UI DIAGRAM</vt:lpstr>
      <vt:lpstr>VALUE PROPOSITION</vt:lpstr>
      <vt:lpstr>FUTURE ENHANCEMENT</vt:lpstr>
      <vt:lpstr>GROUP MEMBERS</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ALISHA PATRA</dc:creator>
  <cp:lastModifiedBy>ALISHA PATRA</cp:lastModifiedBy>
  <cp:revision>2</cp:revision>
  <dcterms:created xsi:type="dcterms:W3CDTF">2022-12-05T17:30:08Z</dcterms:created>
  <dcterms:modified xsi:type="dcterms:W3CDTF">2022-12-06T20:40:00Z</dcterms:modified>
</cp:coreProperties>
</file>